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57200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B4F0"/>
                </a:solidFill>
                <a:latin typeface="맑은 고딕"/>
              </a:rPr>
              <a:t>PORTFOLIO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맑은 고딕"/>
              </a:rPr>
              <a:t>child 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어린이집 알림장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AB4F0"/>
                </a:solidFill>
                <a:latin typeface="맑은 고딕"/>
              </a:rPr>
              <a:t>식단 관리 · 영양 분석 · AI 저녁 추천 · 알레르기 감지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10332720" cy="36576"/>
          </a:xfrm>
          <a:prstGeom prst="rect">
            <a:avLst/>
          </a:prstGeom>
          <a:solidFill>
            <a:srgbClr val="AAB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AB4F0"/>
                </a:solidFill>
                <a:latin typeface="맑은 고딕"/>
              </a:rPr>
              <a:t>Angular 17 · Python · MySQL · Gemini AI · WIZ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A4DE4"/>
                </a:solidFill>
                <a:latin typeface="맑은 고딕"/>
              </a:rPr>
              <a:t>어린이집 학부모·교사·원장을 위한 통합 알림장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PWA로 모바일 앱처럼 설치 가능 · 식단부터 영양·알레르기·소통까지 한 곳에서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697480" cy="73152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1A1A2E"/>
                </a:solidFill>
                <a:latin typeface="맑은 고딕"/>
              </a:rPr>
              <a:t>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식단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타임라인 UI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HWP 일괄 업로드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연령별 메뉴 분기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4688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468880"/>
            <a:ext cx="2697480" cy="73152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1A1A2E"/>
                </a:solidFill>
                <a:latin typeface="맑은 고딕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520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영양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1148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55만건 식품 DB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하이브리드 파이프라인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6대 영양소 추적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688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2697480" cy="73152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1A1A2E"/>
                </a:solidFill>
                <a:latin typeface="맑은 고딕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AI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Gemini 기반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부족 영양소 보충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저녁 메뉴 제안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46888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2468880"/>
            <a:ext cx="2697480" cy="73152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7432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0">
                <a:solidFill>
                  <a:srgbClr val="1A1A2E"/>
                </a:solidFill>
                <a:latin typeface="맑은 고딕"/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알레르기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11480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표준 19종 매칭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월간 AI 일괄 분석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시각적 경고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852160"/>
            <a:ext cx="11247120" cy="457200"/>
          </a:xfrm>
          <a:prstGeom prst="roundRect">
            <a:avLst>
              <a:gd name="adj" fmla="val 3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3A4DE4"/>
                </a:solidFill>
                <a:latin typeface="맑은 고딕"/>
              </a:rPr>
              <a:t>👨‍👩‍👧 학부모  ·  👩‍🏫 교사  ·  👨‍💼 원장 — 3가지 역할별 차별화된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문제 의식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Why this project?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  <a:latin typeface="맑은 고딕"/>
              </a:rPr>
              <a:t>❌ AS-IS — 부모의 불편함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오늘 우리 아이가 뭘 먹는지 매번 종이 식단표 확인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알레르기 있는 메뉴를 부모가 직접 일일이 체크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어린이집 식단의 영양 균형이 맞는지 알 수 없음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저녁에 뭘 챙겨줘야 할지 막막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어린이집과의 소통 채널이 분산됨 (카톡·전화·앱)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식단 정보가 공식 매체에 따라 단편적으로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A4DE4"/>
                </a:solidFill>
                <a:latin typeface="맑은 고딕"/>
              </a:rPr>
              <a:t>✅ TO-BE — 해결 방향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0292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타임라인 UI로 오늘의 식단을 한눈에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자녀 알레르기 정보 기반 자동 경고 + 빨간 테두리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식약처 DB 기반 6대 영양소 자동 분석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AI가 부족 영양소 채우는 저녁 메뉴 추천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PWA 설치 + Web Push로 통합 채널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1A1A2E"/>
                </a:solidFill>
                <a:latin typeface="맑은 고딕"/>
              </a:rPr>
              <a:t>• 교사·원장의 식단 등록을 HWP 자동 파싱으로 효율화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Angular 17 · Pug · Tailwind CSS · PWA Service Worker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3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WIZ Framework (Python exec env) · Controller 체인 · API per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MySQL (Peewee ORM) · Gemini AI · 식약처 공공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🔁 요청 흐름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327" y="534924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327" y="53492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3151" y="5349240"/>
            <a:ext cx="137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1167" y="534924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41167" y="53492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Controller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(base→user→admin)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1991" y="5349240"/>
            <a:ext cx="137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90007" y="534924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0007" y="53492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App api.py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0831" y="5349240"/>
            <a:ext cx="137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8847" y="534924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8847" y="53492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Model/Struct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9671" y="5349240"/>
            <a:ext cx="137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3A4DE4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7687" y="534924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7687" y="53492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DB / API /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핵심 기능 ① 식단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Meal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A4DE4"/>
                </a:solidFill>
                <a:latin typeface="맑은 고딕"/>
              </a:rPr>
              <a:t>🍱 타임라인 UI · 연령별 분기 · HWP 자동 파싱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  <a:latin typeface="맑은 고딕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타임라인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오전간식 · 점심 · 오후간식을 시간순 카드로 한눈에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12801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  <a:latin typeface="맑은 고딕"/>
              </a:rPr>
              <a:t>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11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연령별 메뉴 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2316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1~2세 / 3~5세 메뉴 자동 분리 표시 (예: 백김치↔배추김치)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  <a:latin typeface="맑은 고딕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29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HWP 자동 파싱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월간 식단표 HWP 파일 → 31일치 메뉴 일괄 등록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461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246120"/>
            <a:ext cx="73152" cy="12801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  <a:latin typeface="맑은 고딕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4290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대체식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404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교사가 날짜별 대체 메뉴 체크 → 학부모 화면 즉시 반영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73152" cy="12801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  <a:latin typeface="맑은 고딕"/>
              </a:rPr>
              <a:t>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463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식단 사진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공용/개인 분류, 3식별 사진 업로드 + 댓글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66344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663440"/>
            <a:ext cx="73152" cy="12801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846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  <a:latin typeface="맑은 고딕"/>
              </a:rPr>
              <a:t>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463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월별 캘린더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25780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달력 뷰 + 일별 상세 보기, 프리패치로 빠른 전환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126480"/>
            <a:ext cx="11247120" cy="365760"/>
          </a:xfrm>
          <a:prstGeom prst="roundRect">
            <a:avLst>
              <a:gd name="adj" fmla="val 3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A4DE4"/>
                </a:solidFill>
                <a:latin typeface="맑은 고딕"/>
              </a:rPr>
              <a:t>🚀 업로드 속도 최적화: 병렬 처리 + 프리패치로 일일 진입 지연 제거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핵심 기능 ② 영양 분석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Hybrid Nutrition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A4DE4"/>
                </a:solidFill>
                <a:latin typeface="맑은 고딕"/>
              </a:rPr>
              <a:t>📊 55만건 식품 DB 기반 하이브리드 6단계 검색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API/AI 호출 없이 결정적(deterministic) 결과 보장 → 동일 메뉴 = 동일 칼로리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F0"/>
                </a:solidFill>
                <a:latin typeface="맑은 고딕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DB 캐시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nutrition_mapping</a:t>
            </a:r>
          </a:p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이전 결과 재사용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7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7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F0"/>
                </a:solidFill>
                <a:latin typeface="맑은 고딕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7" y="26060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AI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7" y="297180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찐고구마→고구마(찐것)</a:t>
            </a:r>
          </a:p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Gemini로 검색명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5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F0"/>
                </a:solidFill>
                <a:latin typeface="맑은 고딕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6060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로컬 식품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5" y="297180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55만건 미러</a:t>
            </a:r>
          </a:p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exact/LIKE 매칭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3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F0"/>
                </a:solidFill>
                <a:latin typeface="맑은 고딕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6060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식약처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3" y="297180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공공 데이터</a:t>
            </a:r>
          </a:p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실시간 검색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1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F0"/>
                </a:solidFill>
                <a:latin typeface="맑은 고딕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26060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메뉴젠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1" y="297180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급식 관리</a:t>
            </a:r>
          </a:p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시스템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39" y="2194560"/>
            <a:ext cx="1874519" cy="137160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39" y="22860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F0"/>
                </a:solidFill>
                <a:latin typeface="맑은 고딕"/>
              </a:rP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9" y="260604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AI 추정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79" y="2971800"/>
            <a:ext cx="16916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Gemini 직접 추정</a:t>
            </a:r>
          </a:p>
          <a:p>
            <a:pPr algn="ctr"/>
            <a:r>
              <a:rPr sz="900" b="0">
                <a:solidFill>
                  <a:srgbClr val="AAB4F0"/>
                </a:solidFill>
                <a:latin typeface="맑은 고딕"/>
              </a:rPr>
              <a:t>최종 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31920"/>
            <a:ext cx="11247120" cy="2468880"/>
          </a:xfrm>
          <a:prstGeom prst="roundRect">
            <a:avLst>
              <a:gd name="adj" fmla="val 5000"/>
            </a:avLst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69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🎯 하이브리드 분석 + DB 비례 보정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526280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2628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1순위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로컬 식품 DB (55만건)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exact/LIKE 매칭 → per-100g × 배식량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093208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0932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2순위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51389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BASIC_INGREDIENTS 사전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51389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단순 식품 17종 (과일, 우유 등)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660136"/>
            <a:ext cx="777240" cy="457200"/>
          </a:xfrm>
          <a:prstGeom prst="roundRect">
            <a:avLst>
              <a:gd name="adj" fmla="val 3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660136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3순위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57058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식품군 표준값 fallback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570585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가이드라인 8개 식품군 × 연령별 제공횟수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영양 데이터 표준화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식약처 가이드라인 (2013) 기반 정량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A4DE4"/>
                </a:solidFill>
                <a:latin typeface="맑은 고딕"/>
              </a:rPr>
              <a:t>📐 연령별 1인분 배식량 × 끼니별 제공횟수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1인분 배식량 (식품군별)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120640" cy="384048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식품군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4028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1~2세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8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3~5세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4028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kcal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78608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243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곡류(밥)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2432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90g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2432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130g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62432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190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512064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83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고기·생선·계란·콩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0083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30g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083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45g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008376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46704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924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채소류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924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30g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924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40g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3392424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30752"/>
            <a:ext cx="512064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764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국류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7764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100ml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77647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140ml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3776472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1605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김치류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1605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14g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16052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20g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79" y="4160520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98848"/>
            <a:ext cx="512064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5445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과일류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5445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50g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544568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80g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4544568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82896"/>
            <a:ext cx="51206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9286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우유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92861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200ml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492861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200ml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4928616"/>
            <a:ext cx="914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  <a:latin typeface="맑은 고딕"/>
              </a:rPr>
              <a:t>어린이집 제공분 일일 목표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2194560"/>
            <a:ext cx="4937760" cy="384048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2402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영양소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402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1~2세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19" y="224028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3~5세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2578608"/>
            <a:ext cx="49377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2240" y="26243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칼로리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6243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420 kcal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75519" y="26243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640 kcal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2962656"/>
            <a:ext cx="493776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0083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단백질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00837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20 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19" y="3008376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12.5 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3346704"/>
            <a:ext cx="49377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39242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지방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339242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17 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19" y="3392424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23 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3730752"/>
            <a:ext cx="493776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377647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탄수화물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377647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73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19" y="377647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102 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4114800"/>
            <a:ext cx="49377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41605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칼슘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416052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250 mg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19" y="416052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275 mg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4498848"/>
            <a:ext cx="493776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45445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철분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454456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3.3 mg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75519" y="454456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4.5 mg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5852160"/>
            <a:ext cx="11247120" cy="457200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A4DE4"/>
                </a:solidFill>
                <a:latin typeface="맑은 고딕"/>
              </a:rPr>
              <a:t>💾 가이드라인 데이터를 nutrition_guideline.json으로 외부화 → 코드 변경 없이 기준 갱신 가능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핵심 기능 ③ AI 저녁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Gemini 기반 부족 영양소 보충 메뉴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A4DE4"/>
                </a:solidFill>
                <a:latin typeface="맑은 고딕"/>
              </a:rPr>
              <a:t>🤖 어린이집 실제 제공 메뉴 → 부족 영양소 분석 → 가정 저녁 추천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맑은 고딕"/>
              </a:rPr>
              <a:t>🍽️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Stage 1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섭취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오전간식·점심·오후간식</a:t>
            </a:r>
          </a:p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실제 섭취 영양소 합산</a:t>
            </a:r>
          </a:p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(교사 대체식 반영)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28800"/>
            <a:ext cx="18288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3A4DE4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65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맑은 고딕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Stage 2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부족분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4612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하루 목표 - 섭취량</a:t>
            </a:r>
          </a:p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6대 영양소별</a:t>
            </a:r>
          </a:p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부족/적정/초과 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828800"/>
            <a:ext cx="18288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3A4DE4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9659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1A1A2E"/>
                </a:solidFill>
                <a:latin typeface="맑은 고딕"/>
              </a:rPr>
              <a:t>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Stage 3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AI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부족 영양소 보충 메뉴</a:t>
            </a:r>
          </a:p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Gemini 1인분 기준</a:t>
            </a:r>
          </a:p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알레르기 회피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9768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🛡️ 추천 결과 검증 (할루시네이션 방지)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1051560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A1A2E"/>
                </a:solidFill>
                <a:latin typeface="맑은 고딕"/>
              </a:rPr>
              <a:t>• 개별 메뉴 칼로리 범위 (1~2세 30~350kcal / 3~5세 40~500kcal)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A1A2E"/>
                </a:solidFill>
                <a:latin typeface="맑은 고딕"/>
              </a:rPr>
              <a:t>• 총 칼로리가 부족분의 0.5~1.5배 범위 내인지 확인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A1A2E"/>
                </a:solidFill>
                <a:latin typeface="맑은 고딕"/>
              </a:rPr>
              <a:t>• 검증 실패 시 1회 자동 재시도 → 그래도 실패하면 폴백 안내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A1A2E"/>
                </a:solidFill>
                <a:latin typeface="맑은 고딕"/>
              </a:rPr>
              <a:t>• 자녀 알레르기 키워드 회피 (Gemini 프롬프트 반영 + 후처리 필터)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핵심 기능 ④ 알레르기 감지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Multi-layer Allergy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A4DE4"/>
                </a:solidFill>
                <a:latin typeface="맑은 고딕"/>
              </a:rPr>
              <a:t>🔔 표준 19종 + 커스텀 키워드 + AI 재료 분석 — 4중 매칭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74C3C"/>
                </a:solidFill>
                <a:latin typeface="맑은 고딕"/>
              </a:rPr>
              <a:t>표준 19종: 난류·우유·메밀·땅콩·대두·밀·고등어·게·새우·돼지고기·복숭아·토마토·아황산류·호두·닭고기·소고기·오징어·조개류·잣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73152" cy="68580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7063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① 번호 매칭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7063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식단 등록 시 음식별 알레르기 번호 ↔ 자녀 알레르기 교차 검사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8620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286207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A4DE4"/>
                </a:solidFill>
                <a:latin typeface="맑은 고딕"/>
              </a:rPr>
              <a:t>결정적·즉시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73152" cy="68580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4787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② 키워드 직접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4787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기타(커스텀) 키워드가 식단명 텍스트에 직접 포함되는지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6393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6393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A4DE4"/>
                </a:solidFill>
                <a:latin typeface="맑은 고딕"/>
              </a:rPr>
              <a:t>텍스트 매칭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5196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51960"/>
            <a:ext cx="73152" cy="68580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2511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③ 별칭 매칭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32511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돼지고기 → [돈까스, 만두, 탕수육...] 등 변형 메뉴명 매칭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41655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44165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A4DE4"/>
                </a:solidFill>
                <a:latin typeface="맑은 고딕"/>
              </a:rPr>
              <a:t>파생어 추적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73152" cy="68580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0235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④ 월간 AI 일괄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102352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Gemini로 이번 달 음식의 재료 수준 알레르기 일괄 분석 (월 1회 캐시)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1937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519379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A4DE4"/>
                </a:solidFill>
                <a:latin typeface="맑은 고딕"/>
              </a:rPr>
              <a:t>재료 추론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97880"/>
            <a:ext cx="11247120" cy="411480"/>
          </a:xfrm>
          <a:prstGeom prst="roundRect">
            <a:avLst>
              <a:gd name="adj" fmla="val 30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74C3C"/>
                </a:solidFill>
                <a:latin typeface="맑은 고딕"/>
              </a:rPr>
              <a:t>🎨 UI: 매칭된 식단 카드에 빨간 테두리(#e74c3c) + 옅은 빨강 배경 + ⚠️ 경고 텍스트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UX 인사이트 — 긍정 프레이밍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부정적 표현이 부모에게 주는 부담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A4DE4"/>
                </a:solidFill>
                <a:latin typeface="맑은 고딕"/>
              </a:rPr>
              <a:t>💡 "부족"이 어린이집의 잘못처럼 느껴지지 않도록 메시지 재설계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맑은 고딕"/>
              </a:rPr>
              <a:t>❌ AS-IS — 책망 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맑은 고딕"/>
              </a:rPr>
              <a:t>배지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부족 (목표 3.3)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79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맑은 고딕"/>
              </a:rPr>
              <a:t>배지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2607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+76.3mg 초과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39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3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맑은 고딕"/>
              </a:rPr>
              <a:t>색상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2043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빨간색 강조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맑은 고딕"/>
              </a:rPr>
              <a:t>뉘앙스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14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어린이집이 잘못한 듯한 인상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A4DE4"/>
                </a:solidFill>
                <a:latin typeface="맑은 고딕"/>
              </a:rPr>
              <a:t>✅ TO-BE — 응원 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33172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3317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A4DE4"/>
                </a:solidFill>
                <a:latin typeface="맑은 고딕"/>
              </a:rPr>
              <a:t>배지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33172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🌱 조금 더 챙겨주세요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26079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92607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A4DE4"/>
                </a:solidFill>
                <a:latin typeface="맑은 고딕"/>
              </a:rPr>
              <a:t>배지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92607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✨ 충분히 섭취했어요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20439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2043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A4DE4"/>
                </a:solidFill>
                <a:latin typeface="맑은 고딕"/>
              </a:rPr>
              <a:t>색상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520439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따뜻한 노랑·파랑 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114800"/>
            <a:ext cx="5486400" cy="5029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114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A4DE4"/>
                </a:solidFill>
                <a:latin typeface="맑은 고딕"/>
              </a:rPr>
              <a:t>코멘트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114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철분 부족 → 소고기·시금치 추천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4632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맑은 고딕"/>
              </a:rPr>
              <a:t>🎯 핵심 인사이트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동일한 데이터라도 "목표 대비 달성률" 관점이 아닌 "오늘 우리 아이 잘 먹었어요" 관점으로 프레이밍하면, 사용자(부모)가 받는 정서적 인상이 완전히 달라진다.</a:t>
            </a:r>
          </a:p>
          <a:p>
            <a:pPr algn="l"/>
            <a:r>
              <a:rPr sz="1200" b="0">
                <a:solidFill>
                  <a:srgbClr val="1A1A2E"/>
                </a:solidFill>
                <a:latin typeface="맑은 고딕"/>
              </a:rPr>
              <a:t>→ 책망 대신 응원 · 빨간색 대신 따뜻한 색 · 결핍 표시 대신 가정 보충 가이드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4864" cy="6400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Angular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프레임워크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54864" cy="6400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706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Pug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44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템플릿 엔진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02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764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유틸리티 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336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PWA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오프라인·설치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54864" cy="6400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651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Service Worker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395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푸시 알림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118872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11887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196596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1965960"/>
            <a:ext cx="54864" cy="6400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0391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Python 3.10+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3134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런타임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269748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2697480"/>
            <a:ext cx="54864" cy="6400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27706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WIZ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044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풀스택 FW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342900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0" y="3429000"/>
            <a:ext cx="54864" cy="6400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502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Peewee 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7764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DB 추상화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416052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4160520"/>
            <a:ext cx="54864" cy="6400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42336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Flask Session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507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인증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489204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4892040"/>
            <a:ext cx="54864" cy="6400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49651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bcrypt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2395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비밀번호 해싱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118872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11887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Data &amp; 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21040" y="196596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21040" y="1965960"/>
            <a:ext cx="54864" cy="640080"/>
          </a:xfrm>
          <a:prstGeom prst="rect">
            <a:avLst/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20391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MySQL 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23134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주 데이터베이스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1040" y="269748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21040" y="2697480"/>
            <a:ext cx="54864" cy="640080"/>
          </a:xfrm>
          <a:prstGeom prst="rect">
            <a:avLst/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0" y="27706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식약처 식품DB 55만건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3044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로컬 미러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21040" y="342900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3429000"/>
            <a:ext cx="54864" cy="640080"/>
          </a:xfrm>
          <a:prstGeom prst="rect">
            <a:avLst/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3502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Google Gemini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37764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AI 추천·정규화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21040" y="416052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21040" y="4160520"/>
            <a:ext cx="54864" cy="640080"/>
          </a:xfrm>
          <a:prstGeom prst="rect">
            <a:avLst/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42336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Web Push (VAPID)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4507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푸시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21040" y="4892040"/>
            <a:ext cx="365760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4892040"/>
            <a:ext cx="54864" cy="640080"/>
          </a:xfrm>
          <a:prstGeom prst="rect">
            <a:avLst/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49651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맑은 고딕"/>
              </a:rPr>
              <a:t>SMTP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03920" y="523951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이메일 인증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DB 스키마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A4DE4"/>
                </a:solidFill>
                <a:latin typeface="맑은 고딕"/>
              </a:rPr>
              <a:t>💾 2개 네임스페이스 · 15개 테이블 · 55만건 식품 데이터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login_db (인증)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이메일·비밀번호·역할(부모/교사/원장)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어린이집 서버, 8자리 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server_members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서버-사용자 매핑, 반(클래스)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486400" cy="5029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childcheck (서비스 · 12 tables)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children · child_allergies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157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자녀 정보 + 알레르기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71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meals · meal_substitute_selections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1868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식단 + 대체식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747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meal_nutrition_cache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216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영양 분석 캐시 (서버×날짜×연령)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776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nutrition_foods (55만건)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245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국가표준식품성분 미러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nutrition_mapping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2744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메뉴명 → 영양소 매핑 캐시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photos · photo_comments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2303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식단 사진 + 댓글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4864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DA8"/>
                </a:solidFill>
                <a:latin typeface="맑은 고딕"/>
              </a:rPr>
              <a:t>notifications · push_subscriptions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73328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알림 + 푸시 구독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기술적 도전 &amp;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Engineering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73152" cy="15544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맑은 고딕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0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55만건 식품 DB 검색 성능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075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075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A4DE4"/>
                </a:solidFill>
                <a:latin typeface="맑은 고딕"/>
              </a:rPr>
              <a:t>캐싱 · 인덱스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단순 LIKE 매칭 → food_name 인덱스 + 정규화 캐시 테이블(nutrition_mapping)로 반복 조회 0.1ms 수준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73152" cy="15544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80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맑은 고딕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280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AI 할루시네이션 방지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13075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130759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A4DE4"/>
                </a:solidFill>
                <a:latin typeface="맑은 고딕"/>
              </a:rPr>
              <a:t>검증 레이어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9164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Gemini 추천 결과를 칼로리 범위·총합 범위로 검증 → 실패 시 1회 재시도 → 그래도 실패하면 안전한 폴백 텍스트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3464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834640"/>
            <a:ext cx="73152" cy="15544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맑은 고딕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결정적 영양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999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9992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A4DE4"/>
                </a:solidFill>
                <a:latin typeface="맑은 고딕"/>
              </a:rPr>
              <a:t>Determinism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8328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API/AI 호출 없이도 동일 메뉴는 항상 동일 칼로리가 나오도록 로컬 DB → 사전 → 표준값 3단계 fallback 설계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83464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834640"/>
            <a:ext cx="73152" cy="15544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971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맑은 고딕"/>
              </a:rPr>
              <a:t>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971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식단표 업로드 UX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32720" y="29992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299923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A4DE4"/>
                </a:solidFill>
                <a:latin typeface="맑은 고딕"/>
              </a:rPr>
              <a:t>성능 + 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8328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HWP 파싱 + DB 일괄 insert가 느려서 진행률이 안 보임 → 단계별 프로그레스바 + 월간 프리패치로 일일 진입 지연 제거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2628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73152" cy="15544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맑은 고딕"/>
              </a:rPr>
              <a:t>🛡️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663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민감 정보 분리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46908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6908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A4DE4"/>
                </a:solidFill>
                <a:latin typeface="맑은 고딕"/>
              </a:rP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DB 비밀번호·API키·VAPID 키를 config/ 디렉토리로 분리하고 .gitignore 등록 → 코드 공개해도 안전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526280"/>
            <a:ext cx="54864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526280"/>
            <a:ext cx="73152" cy="155448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2E"/>
                </a:solidFill>
                <a:latin typeface="맑은 고딕"/>
              </a:rPr>
              <a:t>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663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A4DE4"/>
                </a:solidFill>
                <a:latin typeface="맑은 고딕"/>
              </a:rPr>
              <a:t>긍정 프레이밍 UX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32720" y="469087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469087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A4DE4"/>
                </a:solidFill>
                <a:latin typeface="맑은 고딕"/>
              </a:rPr>
              <a:t>User-centered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074920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"부족·초과" 같은 부정적 표현이 어린이집을 책망하는 느낌을 준다는 인사이트 → "잘 먹었어요" 응원 메시지로 전환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역할별 기능 매트릭스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Role-based Feature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A4DE4"/>
                </a:solidFill>
                <a:latin typeface="맑은 고딕"/>
              </a:rPr>
              <a:t>👨‍👩‍👧 학부모  ·  👩‍🏫 교사  ·  👨‍💼 원장 — 서로 다른 권한과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384048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5623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8562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학부모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8562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교사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185623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원장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오늘의 식단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24028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24028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24028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51176"/>
            <a:ext cx="1124712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24328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AI 저녁 추천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62432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62432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62432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35224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008376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알레르기 경고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0083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 (자녀)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0083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 (전체)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00837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 (전체)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19272"/>
            <a:ext cx="1124712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92424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식단 등록·HWP 업로드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39242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39242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39242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70332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77647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대체식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377647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77647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77647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87368"/>
            <a:ext cx="1124712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1605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활동 기록 작성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416052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16052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16052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471416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544568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알림장 승인 워크플로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454456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54456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4544568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55464"/>
            <a:ext cx="1124712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928616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월간 영양 대시보드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492861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492861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92861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239512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312664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서버(어린이집) 생성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531266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31266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531266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623560"/>
            <a:ext cx="11247120" cy="384048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696712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반(클래스) 관리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83480" y="569671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569671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5696712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00760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608076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맑은 고딕"/>
              </a:rPr>
              <a:t>알레르기 통계 관리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608076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608076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6080760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맑은 고딕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프로젝트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F0"/>
                </a:solidFill>
                <a:latin typeface="맑은 고딕"/>
              </a:rPr>
              <a:t>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src/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├── app/       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20+ 페이지 (Page · Layout · Component)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page.note.today/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오늘의 식단 + AI 저녁 추천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page.note.meal/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식단표 (캘린더 + HWP 업로드)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page.note.meal.nutrition/ </a:t>
            </a:r>
            <a:r>
              <a:rPr sz="1100">
                <a:solidFill>
                  <a:srgbClr val="6B7280"/>
                </a:solidFill>
                <a:latin typeface="Consolas"/>
              </a:rPr>
              <a:t># 월간 영양 대시보드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page.note.allergy/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알레르기 통계 관리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page.note.activity/       </a:t>
            </a:r>
            <a:r>
              <a:rPr sz="1100">
                <a:solidFill>
                  <a:srgbClr val="6B7280"/>
                </a:solidFill>
                <a:latin typeface="Consolas"/>
              </a:rPr>
              <a:t># 활동 기록 (교사 작성)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page.note.approve/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원장 승인 워크플로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page.server.create/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어린이집 서버 생성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└── page.signup/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이메일 인증 회원가입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├── model/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nutrition_api.py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영양 검색 엔진 (1,175줄, 6단계 파이프라인)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gemini.py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Google Gemini AI 헬퍼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mailer.py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SMTP 이메일 발송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├── push.py  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Web Push (VAPID)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   └── db/       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15개 Peewee 모델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│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├── controller/   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인증 체인 (base → user → admin)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└── portal/       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공유 패키지 (season)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config/                            </a:t>
            </a:r>
            <a:r>
              <a:rPr sz="1100">
                <a:solidFill>
                  <a:srgbClr val="6B7280"/>
                </a:solidFill>
                <a:latin typeface="Consolas"/>
              </a:rPr>
              <a:t># ⚠ .gitignore (DB·API키·VAPID 분리)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1A1A2E"/>
                </a:solidFill>
                <a:latin typeface="Consolas"/>
              </a:rPr>
              <a:t>data/nutrition_guideline.json     </a:t>
            </a:r>
            <a:r>
              <a:rPr sz="1100">
                <a:solidFill>
                  <a:srgbClr val="6B7280"/>
                </a:solidFill>
                <a:latin typeface="Consolas"/>
              </a:rPr>
              <a:t># 식약처 가이드라인 외부화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맑은 고딕"/>
              </a:rPr>
              <a:t>child — 어린이집 알림장 PWA · 포트폴리오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4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-18288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B4F0"/>
                </a:solidFill>
                <a:latin typeface="맑은 고딕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함께 자라는 아이들을 위해 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AB4F0"/>
                </a:solidFill>
                <a:latin typeface="맑은 고딕"/>
              </a:rPr>
              <a:t>데이터로 안전을, AI로 균형을, 디자인으로 따뜻함을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550,000+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F0"/>
                </a:solidFill>
                <a:latin typeface="맑은 고딕"/>
              </a:rPr>
              <a:t>식품 DB 레코드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F0"/>
                </a:solidFill>
                <a:latin typeface="맑은 고딕"/>
              </a:rPr>
              <a:t>Local mirrored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1148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F0"/>
                </a:solidFill>
                <a:latin typeface="맑은 고딕"/>
              </a:rPr>
              <a:t>Pages ·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349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F0"/>
                </a:solidFill>
                <a:latin typeface="맑은 고딕"/>
              </a:rPr>
              <a:t>Angular + Pug + SCSS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114800"/>
            <a:ext cx="3200400" cy="1828800"/>
          </a:xfrm>
          <a:prstGeom prst="roundRect">
            <a:avLst>
              <a:gd name="adj" fmla="val 8000"/>
            </a:avLst>
          </a:prstGeom>
          <a:solidFill>
            <a:srgbClr val="1E2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297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6단계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AB4F0"/>
                </a:solidFill>
                <a:latin typeface="맑은 고딕"/>
              </a:rPr>
              <a:t>영양 검색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349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AAB4F0"/>
                </a:solidFill>
                <a:latin typeface="맑은 고딕"/>
              </a:rPr>
              <a:t>Hybrid · Deterministic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AAB4F0"/>
                </a:solidFill>
                <a:latin typeface="맑은 고딕"/>
              </a:rPr>
              <a:t>github.com/xericen/child-project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